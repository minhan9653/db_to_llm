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23456"/>
                </a:solidFill>
                <a:latin typeface="Malgun Gothic"/>
              </a:rPr>
              <a:t>DB_to_LLM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6699"/>
                </a:solidFill>
                <a:latin typeface="Malgun Gothic"/>
              </a:rPr>
              <a:t>Root_Ingest + Root_Stream 구조 및 실행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12121"/>
                </a:solidFill>
                <a:latin typeface="Malgun Gothic"/>
              </a:rPr>
              <a:t>? Root_Ingest: parse -&gt; chunk -&gt; embedding -&gt; Chroma upsert</a:t>
            </a:r>
          </a:p>
          <a:p>
            <a:r>
              <a:rPr sz="1600" b="0">
                <a:solidFill>
                  <a:srgbClr val="212121"/>
                </a:solidFill>
                <a:latin typeface="Malgun Gothic"/>
              </a:rPr>
              <a:t>? Root_Stream: question -&gt; mode routing -&gt; SQL generation -&gt; optional MSSQL execution</a:t>
            </a:r>
          </a:p>
          <a:p>
            <a:r>
              <a:rPr sz="1600" b="0">
                <a:solidFill>
                  <a:srgbClr val="212121"/>
                </a:solidFill>
                <a:latin typeface="Malgun Gothic"/>
              </a:rPr>
              <a:t>? Shared principle: config-driven runtime and reusable modules for CLI/Notebook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3456"/>
                </a:solidFill>
                <a:latin typeface="Malgun Gothic"/>
              </a:rPr>
              <a:t>전체 시스템 컨텍스트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2286000" cy="109728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입력 문서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DOCX / SQL / Text</a:t>
            </a:r>
          </a:p>
        </p:txBody>
      </p:sp>
      <p:sp>
        <p:nvSpPr>
          <p:cNvPr id="4" name="Chevron 3"/>
          <p:cNvSpPr/>
          <p:nvPr/>
        </p:nvSpPr>
        <p:spPr>
          <a:xfrm>
            <a:off x="2926080" y="1600200"/>
            <a:ext cx="457200" cy="411480"/>
          </a:xfrm>
          <a:prstGeom prst="chevron">
            <a:avLst/>
          </a:prstGeom>
          <a:solidFill>
            <a:srgbClr val="BDD7EE"/>
          </a:solidFill>
          <a:ln>
            <a:solidFill>
              <a:srgbClr val="789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0" y="1097280"/>
            <a:ext cx="2743200" cy="146304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Root_Ingest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Pipeline execution</a:t>
            </a:r>
          </a:p>
        </p:txBody>
      </p:sp>
      <p:sp>
        <p:nvSpPr>
          <p:cNvPr id="6" name="Chevron 5"/>
          <p:cNvSpPr/>
          <p:nvPr/>
        </p:nvSpPr>
        <p:spPr>
          <a:xfrm>
            <a:off x="6309360" y="1600200"/>
            <a:ext cx="457200" cy="411480"/>
          </a:xfrm>
          <a:prstGeom prst="chevron">
            <a:avLst/>
          </a:prstGeom>
          <a:solidFill>
            <a:srgbClr val="BDD7EE"/>
          </a:solidFill>
          <a:ln>
            <a:solidFill>
              <a:srgbClr val="789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0" y="1097280"/>
            <a:ext cx="2560320" cy="146304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Chroma DB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Vector collection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2286000" cy="109728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사용자 질문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Natural language</a:t>
            </a:r>
          </a:p>
        </p:txBody>
      </p:sp>
      <p:sp>
        <p:nvSpPr>
          <p:cNvPr id="9" name="Chevron 8"/>
          <p:cNvSpPr/>
          <p:nvPr/>
        </p:nvSpPr>
        <p:spPr>
          <a:xfrm>
            <a:off x="2926080" y="3794760"/>
            <a:ext cx="457200" cy="411480"/>
          </a:xfrm>
          <a:prstGeom prst="chevron">
            <a:avLst/>
          </a:prstGeom>
          <a:solidFill>
            <a:srgbClr val="BDD7EE"/>
          </a:solidFill>
          <a:ln>
            <a:solidFill>
              <a:srgbClr val="789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3291840"/>
            <a:ext cx="2743200" cy="146304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Root_Stream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4 modes for SQL generation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6309360" y="3794760"/>
            <a:ext cx="457200" cy="411480"/>
          </a:xfrm>
          <a:prstGeom prst="chevron">
            <a:avLst/>
          </a:prstGeom>
          <a:solidFill>
            <a:srgbClr val="BDD7EE"/>
          </a:solidFill>
          <a:ln>
            <a:solidFill>
              <a:srgbClr val="789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0" y="3291840"/>
            <a:ext cx="3474720" cy="146304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선택적 SQL 실행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SqlGuard + MSSQL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3456"/>
                </a:solidFill>
                <a:latin typeface="Malgun Gothic"/>
              </a:rPr>
              <a:t>Root_Ingest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6699"/>
                </a:solidFill>
                <a:latin typeface="Malgun Gothic"/>
              </a:rPr>
              <a:t>핵심 모듈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377440" cy="137160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document_loader.py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문서 수집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document_index.jsonl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463040"/>
            <a:ext cx="2377440" cy="137160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parser_service.py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parsed_documents.jsonl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463040"/>
            <a:ext cx="2377440" cy="137160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chunk_service.py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청크 분할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chunks.jsonl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463040"/>
            <a:ext cx="2377440" cy="137160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embedding_service.py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임베딩 생성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3291840"/>
            <a:ext cx="2926080" cy="137160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vector_store_service.py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Chroma upsert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291840"/>
            <a:ext cx="4297680" cy="137160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ingest_pipeline.py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전체 단계 오케스트레이션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요약 반환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3456"/>
                </a:solidFill>
                <a:latin typeface="Malgun Gothic"/>
              </a:rPr>
              <a:t>Root_Stream 아키텍처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743200" cy="128016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main.py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CLI entrypoint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--execute-sql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371600"/>
            <a:ext cx="3017520" cy="128016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stream_orchestrator.py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mode routing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StreamResult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371600"/>
            <a:ext cx="4754880" cy="128016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services/stream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natural_llm | prompt_llm | rag_prompt_llm | api_result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08960"/>
            <a:ext cx="2743200" cy="137160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prompts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prompt_templates.yaml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PromptManager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3108960"/>
            <a:ext cx="3017520" cy="137160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services/llm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ollama/openai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3108960"/>
            <a:ext cx="4754880" cy="137160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services/retrieval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embedding_service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chroma_retriever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12121"/>
                </a:solidFill>
                <a:latin typeface="Malgun Gothic"/>
              </a:rPr>
              <a:t>? 모드: natural_llm / prompt_llm / rag_prompt_llm / api_result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3456"/>
                </a:solidFill>
                <a:latin typeface="Malgun Gothic"/>
              </a:rPr>
              <a:t>모드별 처리 흐름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194560" cy="109728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질문 입력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User question</a:t>
            </a:r>
          </a:p>
        </p:txBody>
      </p:sp>
      <p:sp>
        <p:nvSpPr>
          <p:cNvPr id="4" name="Chevron 3"/>
          <p:cNvSpPr/>
          <p:nvPr/>
        </p:nvSpPr>
        <p:spPr>
          <a:xfrm>
            <a:off x="2926080" y="1572768"/>
            <a:ext cx="457200" cy="411480"/>
          </a:xfrm>
          <a:prstGeom prst="chevron">
            <a:avLst/>
          </a:prstGeom>
          <a:solidFill>
            <a:srgbClr val="BDD7EE"/>
          </a:solidFill>
          <a:ln>
            <a:solidFill>
              <a:srgbClr val="789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0" y="1097280"/>
            <a:ext cx="2560320" cy="146304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모드 분기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config.mode</a:t>
            </a:r>
          </a:p>
        </p:txBody>
      </p:sp>
      <p:sp>
        <p:nvSpPr>
          <p:cNvPr id="6" name="Chevron 5"/>
          <p:cNvSpPr/>
          <p:nvPr/>
        </p:nvSpPr>
        <p:spPr>
          <a:xfrm>
            <a:off x="6126480" y="1572768"/>
            <a:ext cx="457200" cy="411480"/>
          </a:xfrm>
          <a:prstGeom prst="chevron">
            <a:avLst/>
          </a:prstGeom>
          <a:solidFill>
            <a:srgbClr val="BDD7EE"/>
          </a:solidFill>
          <a:ln>
            <a:solidFill>
              <a:srgbClr val="789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0" y="1097280"/>
            <a:ext cx="4846320" cy="146304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모드 실행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LLM / Prompt / RAG /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83280"/>
            <a:ext cx="2743200" cy="146304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공통 결과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StreamResult.query(SQL)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3383280"/>
            <a:ext cx="2743200" cy="146304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선택: SQL 실행 훅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append_sql_execution_result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383280"/>
            <a:ext cx="4663440" cy="146304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출력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JSON payload + preview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3456"/>
                </a:solidFill>
                <a:latin typeface="Malgun Gothic"/>
              </a:rPr>
              <a:t>MSSQL 실행 레이어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2743200" cy="164592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sql_guard.py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SELECT/WITH only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금지 키워드 차단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0" y="1371600"/>
            <a:ext cx="2743200" cy="164592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mssql_client.py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SQLAlchemy + pyodbc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2377440" cy="164592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sql_executor_service.py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guard -&gt; query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max_rows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9720" y="1371600"/>
            <a:ext cx="2377440" cy="164592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sql_execution_hook.py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payload merge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error logging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3657600"/>
            <a:ext cx="3931920" cy="164592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sql_execution_output.py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preview table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json serializer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657600"/>
            <a:ext cx="5120640" cy="164592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오류 처리 정책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log exception and continue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execution_error in payload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3456"/>
                </a:solidFill>
                <a:latin typeface="Malgun Gothic"/>
              </a:rPr>
              <a:t>실행/운영 가이드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12121"/>
                </a:solidFill>
                <a:latin typeface="Malgun Gothic"/>
              </a:rPr>
              <a:t>? Ingest: python -m Root_Ingest.ingest.ingest_pipeline</a:t>
            </a:r>
          </a:p>
          <a:p>
            <a:r>
              <a:rPr sz="1600" b="0">
                <a:solidFill>
                  <a:srgbClr val="212121"/>
                </a:solidFill>
                <a:latin typeface="Malgun Gothic"/>
              </a:rPr>
              <a:t>? Stream(SQL generate): python -m Root_Stream.main --question "..."</a:t>
            </a:r>
          </a:p>
          <a:p>
            <a:r>
              <a:rPr sz="1600" b="0">
                <a:solidFill>
                  <a:srgbClr val="212121"/>
                </a:solidFill>
                <a:latin typeface="Malgun Gothic"/>
              </a:rPr>
              <a:t>? Stream(SQL execute): python -m Root_Stream.main --question "..." --execute-sql</a:t>
            </a:r>
          </a:p>
          <a:p>
            <a:r>
              <a:rPr sz="1600" b="0">
                <a:solidFill>
                  <a:srgbClr val="212121"/>
                </a:solidFill>
                <a:latin typeface="Malgun Gothic"/>
              </a:rPr>
              <a:t>? Debug: use .vscode/launch.json -&gt; Debug STREAM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303520"/>
            <a:ext cx="10972800" cy="914400"/>
          </a:xfrm>
          <a:prstGeom prst="roundRect">
            <a:avLst/>
          </a:prstGeom>
          <a:solidFill>
            <a:srgbClr val="E8F0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3456"/>
                </a:solidFill>
                <a:latin typeface="Malgun Gothic"/>
              </a:rPr>
              <a:t>산출물 경로</a:t>
            </a:r>
          </a:p>
          <a:p>
            <a:r>
              <a:rPr sz="1200" b="0">
                <a:solidFill>
                  <a:srgbClr val="212121"/>
                </a:solidFill>
                <a:latin typeface="Malgun Gothic"/>
              </a:rPr>
              <a:t>C:\Users\김민한\Desktop\개발\DB_to_LLM\docs\Root_Ingest_Root_Stream_Architecture.pptx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