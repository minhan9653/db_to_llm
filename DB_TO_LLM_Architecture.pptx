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DB_TO_LLM 프로젝트의 전체 아키텍처와 5개 워크플로우(Planner, natural_llm, prompt_llm, rag_prompt_llm, API Server)를 한눈에 이해하기 위한 발표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Root_Ingest(오프라인)와 Root_Stream(온라인)이 ChromaDB를 공유합니다. Planner는 질문을 분석해 query_type을 결정하고, Root_Stream이 해당 유형에 맞게 SQL/RAG/LLM을 실행합니다.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폴더는 책임이 명확히 분리됩니다. Planner와 Root_Ingest는 Root_Stream이 임포트해 사용하는 의존성입니다.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config.yaml이 모든 실행 경로의 중심입니다. mode 값으로 natural_llm/prompt_llm/rag_prompt_llm을 선택하고, Planner는 query_type으로 DB/RAG/LLM 경로를 추가로 결정합니다.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Planner는 Planner/planner_service.py의 PlannerService.plan_question()이 핵심입니다. LLM을 호출해 JSON을 받고, plan_validator로 검증 후 PlannerPlan으로 변환합니다. DB/RAG/LLM 실행은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natural_llm은 Root_Stream/services/stream/mode_natural_llm.py에 구현됩니다. system_prompt는 MSSQL Text-to-SQL 지시문이고, user_prompt는 사용자 질문 그대로입니다. schema_context가 없으므로 정확도 제한이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prompt_llm은 Root_Stream/services/stream/mode_prompt_llm.py에 구현됩니다. config.yaml의 prompts 섹션에서 schema_context와 business_rules를 읽어 템플릿에 주입합니다.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rag_prompt_llm은 Root_Stream/services/stream/mode_rag_prompt_llm.py에 구현됩니다. retrieval.enabled=true 필요. Root_Ingest가 적재한 ChromaDB 컬렉션을 직접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서버는 Root_Stream/server/api_app.py(FastAPI 앱) + routes.py(엔드포인트) + query_service.py(오케스트레이터 위임) 구조입니다. uvicorn으로 실행하고 debug_client.py로 테스트합니다.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시퀀스: Planner는 선택적 단계입니다. rag_prompt_llm 모드에서는 embed→ChromaDB 검색→LLM 경로를 거칩니다. SQL Guard가 항상 중간에 개입합니다. DB 실행은 --execute-sql 옵션 또는 E2E 함수 호출 시 실행됩니다.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Root_Stream.main이 CLI 진입점이고, Root_Stream.server.api_app이 FastAPI 진입점입니다. 둘 다 build_stream_orchestrator()를 호출합니다.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소스 기준으로 분석한 구현 범위입니다. 스트리밍, 인증, 캐싱은 아직 미구현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정리: Planner가 경로를 결정하고 Stream이 실행합니다. RAG는 rag_prompt_llm mode에서 동작하며 Root_Ingest 품질에 의존합니다. API Server는 StreamOrchestrator를 그대로 HTTP로 노출한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648000"/>
            <a:ext cx="11113200" cy="3060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900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DB_TO_LLM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015999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  <a:latin typeface="맑은 고딕"/>
              </a:rPr>
              <a:t>Planner / Stream / RAG / API Server
아키텍처 및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0" y="2844000"/>
            <a:ext cx="7200000" cy="28800"/>
          </a:xfrm>
          <a:prstGeom prst="rect">
            <a:avLst/>
          </a:prstGeom>
          <a:solidFill>
            <a:srgbClr val="00B4D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951999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E5FF"/>
                </a:solidFill>
                <a:latin typeface="맑은 고딕"/>
              </a:rPr>
              <a:t>자연어 질문 → Planner 분기 → SQL/RAG/LLM → 최종 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348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E5FF"/>
                </a:solidFill>
                <a:latin typeface="맑은 고딕"/>
              </a:rPr>
              <a:t>발표용  |  소스 기반 분석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B4D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98000"/>
            <a:ext cx="12193200" cy="36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6534000"/>
            <a:ext cx="1147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전체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Root_Ingest / Root_Stream / Planner 관계 및 외부 의존성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52000"/>
            <a:ext cx="3420000" cy="3780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122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F4D"/>
                </a:solidFill>
                <a:latin typeface="맑은 고딕"/>
              </a:rPr>
              <a:t>📥 Root_Ingest
(오프라인 파이프라인)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655999"/>
            <a:ext cx="3240000" cy="4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1709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📂  문서 수집 (doc/)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4000" y="2123999"/>
            <a:ext cx="0" cy="144000"/>
          </a:xfrm>
          <a:prstGeom prst="line">
            <a:avLst/>
          </a:prstGeom>
          <a:ln w="254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000" y="2267999"/>
            <a:ext cx="3240000" cy="4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00" y="2321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🔍  Parser / Loader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44000" y="2735999"/>
            <a:ext cx="0" cy="144000"/>
          </a:xfrm>
          <a:prstGeom prst="line">
            <a:avLst/>
          </a:prstGeom>
          <a:ln w="254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000" y="2879999"/>
            <a:ext cx="3240000" cy="4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" y="2933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✂️  Chunking (chunk_service)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44000" y="3347999"/>
            <a:ext cx="0" cy="144000"/>
          </a:xfrm>
          <a:prstGeom prst="line">
            <a:avLst/>
          </a:prstGeom>
          <a:ln w="254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000" y="3491999"/>
            <a:ext cx="3240000" cy="4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" y="3545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🧮  Embedding 생성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44000" y="3959999"/>
            <a:ext cx="0" cy="144000"/>
          </a:xfrm>
          <a:prstGeom prst="line">
            <a:avLst/>
          </a:prstGeom>
          <a:ln w="254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000" y="4103999"/>
            <a:ext cx="3240000" cy="4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" y="4157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🗄️  ChromaDB 적재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1152000"/>
            <a:ext cx="4500000" cy="37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8000" y="122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B5"/>
                </a:solidFill>
                <a:latin typeface="맑은 고딕"/>
              </a:rPr>
              <a:t>📤 Root_Stream
(온라인 서빙)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8000" y="1655999"/>
            <a:ext cx="4248000" cy="4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8000" y="1709999"/>
            <a:ext cx="42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❓  자연어 질문 입력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2000" y="2123999"/>
            <a:ext cx="0" cy="1440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68000" y="2267999"/>
            <a:ext cx="4248000" cy="4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8000" y="2321999"/>
            <a:ext cx="42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🔀  mode 분기 (Orchestrator)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92000" y="2735999"/>
            <a:ext cx="0" cy="1440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68000" y="2879999"/>
            <a:ext cx="4248000" cy="4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8000" y="2933999"/>
            <a:ext cx="42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🔍  Vector 검색 (RAG 모드)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92000" y="3347999"/>
            <a:ext cx="0" cy="1440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68000" y="3491999"/>
            <a:ext cx="4248000" cy="4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8000" y="3545999"/>
            <a:ext cx="42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🧩  Prompt 조합 (PromptManager)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2000" y="3959999"/>
            <a:ext cx="0" cy="1440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068000" y="4103999"/>
            <a:ext cx="4248000" cy="4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8000" y="4157999"/>
            <a:ext cx="42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🤖  LLM 호출 (Ollama / OpenAI)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71999" y="1152000"/>
            <a:ext cx="216000" cy="3780000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1999" y="2592000"/>
            <a:ext cx="6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C300"/>
                </a:solidFill>
                <a:latin typeface="맑은 고딕"/>
              </a:rPr>
              <a:t>ChromaDB
(공유)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3600000" y="2232000"/>
            <a:ext cx="0" cy="648000"/>
          </a:xfrm>
          <a:prstGeom prst="line">
            <a:avLst/>
          </a:prstGeom>
          <a:ln w="2540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00000" y="2232000"/>
            <a:ext cx="360000" cy="0"/>
          </a:xfrm>
          <a:prstGeom prst="line">
            <a:avLst/>
          </a:prstGeom>
          <a:ln w="2540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20000" y="1152000"/>
            <a:ext cx="3240000" cy="162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8000" y="1224000"/>
            <a:ext cx="30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F00"/>
                </a:solidFill>
                <a:latin typeface="맑은 고딕"/>
              </a:rPr>
              <a:t>🧠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0000" y="1584000"/>
            <a:ext cx="2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4000"/>
                </a:solidFill>
                <a:latin typeface="맑은 고딕"/>
              </a:rPr>
              <a:t>• 질문 분석 → query_type 결정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0" y="1835999"/>
            <a:ext cx="2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4000"/>
                </a:solidFill>
                <a:latin typeface="맑은 고딕"/>
              </a:rPr>
              <a:t>• DB_ONLY / RAG_ONLY / GENERAL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0000" y="2087998"/>
            <a:ext cx="2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4000"/>
                </a:solidFill>
                <a:latin typeface="맑은 고딕"/>
              </a:rPr>
              <a:t>• DB_THEN_RAG / DB_THEN_GENERAL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0000" y="2339997"/>
            <a:ext cx="2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4000"/>
                </a:solidFill>
                <a:latin typeface="맑은 고딕"/>
              </a:rPr>
              <a:t>• RAG_THEN_GENERAL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20000" y="2951999"/>
            <a:ext cx="3240000" cy="198000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6A0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28000" y="3024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008E"/>
                </a:solidFill>
                <a:latin typeface="맑은 고딕"/>
              </a:rPr>
              <a:t>🔌 외부 의존성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000" y="3311999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0060"/>
                </a:solidFill>
                <a:latin typeface="맑은 고딕"/>
              </a:rPr>
              <a:t>• LLM: Ollama (qwen2.5:14b) / OpenAI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0000" y="3599999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0060"/>
                </a:solidFill>
                <a:latin typeface="맑은 고딕"/>
              </a:rPr>
              <a:t>• VectorDB: ChromaDB PersistentClient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0000" y="3887999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0060"/>
                </a:solidFill>
                <a:latin typeface="맑은 고딕"/>
              </a:rPr>
              <a:t>• RDBMS: MSSQL (pymssql)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0000" y="4175999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0060"/>
                </a:solidFill>
                <a:latin typeface="맑은 고딕"/>
              </a:rPr>
              <a:t>• Server: FastAPI (uvicorn)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0000" y="4463999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0060"/>
                </a:solidFill>
                <a:latin typeface="맑은 고딕"/>
              </a:rPr>
              <a:t>• 임베딩: sentence-transformers (multilingual)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Root_Ingest가 지식을 준비하고, Root_Stream이 실시간으로 응답한다. Planner는 질문 유형을 분류해 흐름을 결정한다.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프로젝트 폴더 구조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각 모듈의 역할과 책임 범위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52000"/>
            <a:ext cx="5772600" cy="234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0000" y="1152000"/>
            <a:ext cx="5772600" cy="396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1880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Planner/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403999"/>
            <a:ext cx="562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F00"/>
                </a:solidFill>
                <a:latin typeface="맑은 고딕"/>
              </a:rPr>
              <a:t>질문 분석 &amp; 실행 계획 수립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" y="1620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planner_service.py  — PlannerService 진입점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" y="19008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models.py           — PlannerPlan / PlannerStep dataclass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" y="21816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planner_prompt.py   — prompt_templates.yaml 키 바인딩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" y="24624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plan_validator.py   — JSON 구조 최소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" y="27432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debug_planner.py    — CLI 디버그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8136395999" y="1152000"/>
            <a:ext cx="5772600" cy="2340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78136395999" y="1152000"/>
            <a:ext cx="5772600" cy="396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78136503999" y="11880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Root_Ingest/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8136503999" y="1403999"/>
            <a:ext cx="562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7F4D"/>
                </a:solidFill>
                <a:latin typeface="맑은 고딕"/>
              </a:rPr>
              <a:t>문서 수집 → 파싱 → 청킹 → 임베딩 → ChromaDB 적재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8136467999" y="1620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ingest/ingest_pipeline.py  — 전체 파이프라인 오케스트레이터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8136467999" y="19008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ingest/document_loader.py  — 파일 수집·인덱싱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8136467999" y="21816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ingest/parser_service.py   — SQL DDL / 문서 파싱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8136467999" y="24624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ingest/chunk_service.py    — 청킹 (size=800, overlap=100)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8136467999" y="27432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ingest/embedding_service.py — SentenceTransformer 임베딩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8136467999" y="3024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ingest/vector_store_service.py — ChromaDB upsert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" y="3600000"/>
            <a:ext cx="5772600" cy="234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0000" y="3600000"/>
            <a:ext cx="57726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00" y="36360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Root_Stream/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" y="3851999"/>
            <a:ext cx="562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5FB5"/>
                </a:solidFill>
                <a:latin typeface="맑은 고딕"/>
              </a:rPr>
              <a:t>자연어 질문 → SQL 생성 → 응답 반환 (3가지 mode)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00" y="4068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orchestrator/stream_orchestrator.py — mode 분기 총괄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000" y="43488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services/stream/mode_natural_llm.py — 직접 LLM 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000" y="46296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services/stream/mode_prompt_llm.py  — 템플릿 기반 SQL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000" y="49104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services/stream/mode_rag_prompt_llm.py — RAG +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000" y="51912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services/sql/sql_guard.py           — SELECT-only 안전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000" y="5472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services/sql/sql_executor_service.py — MSSQL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000" y="57528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services/e2e/planner_flow_runner.py — E2E 흐름 오케스트레이션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00" y="60336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server/api_app.py + routes.py       — FastAPI 서버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2000" y="63144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prompts/prompt_templates.yaml       — 프롬프트 템플릿 저장소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78136395999" y="3600000"/>
            <a:ext cx="5772600" cy="234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5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078136395999" y="3600000"/>
            <a:ext cx="5772600" cy="396000"/>
          </a:xfrm>
          <a:prstGeom prst="roundRect">
            <a:avLst/>
          </a:prstGeom>
          <a:solidFill>
            <a:srgbClr val="5569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8136503999" y="36360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docs/ &amp; tests/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8136503999" y="3851999"/>
            <a:ext cx="5628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SQL 스키마 문서 및 단위·통합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8136467999" y="40680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doc/ALL_LOG_TABLES_cleaned.sql — DB 스키마 DDL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8136467999" y="4348800"/>
            <a:ext cx="56646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  tests/root_stream/             — config_loader, SQL guard 테스트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폴더 = 책임 단위. Planner/Root_Ingest/Root_Stream이 독립적으로 분리되어 있고, Root_Stream이 나머지를 통합 호출한다.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공통 실행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모든 실행 경로가 공유하는 공통 컴포넌트 관계도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603" y="1260000"/>
            <a:ext cx="1475999" cy="1007999"/>
          </a:xfrm>
          <a:prstGeom prst="roundRect">
            <a:avLst/>
          </a:prstGeom>
          <a:solidFill>
            <a:srgbClr val="5C6BC0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603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config.yaml
+ .env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603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603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설정 주입
(mode, provider, paths)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66602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46602" y="1260000"/>
            <a:ext cx="1475999" cy="1007999"/>
          </a:xfrm>
          <a:prstGeom prst="roundRect">
            <a:avLst/>
          </a:prstGeom>
          <a:solidFill>
            <a:srgbClr val="5C6BC0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6602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prompt_templates
.yaml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2602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0602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프롬프트 키·템플릿
저장소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2601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02601" y="1260000"/>
            <a:ext cx="1475999" cy="1007999"/>
          </a:xfrm>
          <a:prstGeom prst="roundRect">
            <a:avLst/>
          </a:prstGeom>
          <a:solidFill>
            <a:srgbClr val="005FB5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2601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PromptManager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8601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6601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get_prompt(key)
render_prompt(key,{})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8600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58600" y="1260000"/>
            <a:ext cx="1475999" cy="1007999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600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LLM Client
(Factory)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600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2600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OllamaClient
OpenAIClient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34599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4599" y="1260000"/>
            <a:ext cx="1475999" cy="1007999"/>
          </a:xfrm>
          <a:prstGeom prst="roundRect">
            <a:avLst/>
          </a:prstGeom>
          <a:solidFill>
            <a:srgbClr val="1B7F4D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4599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Retrieval
(RAG 전용)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599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599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SentenceTransformer
+ ChromaRetriever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90598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70598" y="1260000"/>
            <a:ext cx="1475999" cy="1007999"/>
          </a:xfrm>
          <a:prstGeom prst="roundRect">
            <a:avLst/>
          </a:prstGeom>
          <a:solidFill>
            <a:srgbClr val="E63700"/>
          </a:solidFill>
          <a:ln w="12700">
            <a:solidFill>
              <a:srgbClr val="E63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0598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SQL Guard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6598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4598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SELECT-only 검증
금지 키워드 차단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46597.5" y="1763999.5"/>
            <a:ext cx="180000.0" cy="0.0"/>
          </a:xfrm>
          <a:prstGeom prst="line">
            <a:avLst/>
          </a:prstGeom>
          <a:ln w="25400">
            <a:solidFill>
              <a:srgbClr val="55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326597" y="1260000"/>
            <a:ext cx="1475999" cy="1007999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6597" y="1332000"/>
            <a:ext cx="147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DB Execution
(선택적)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2597" y="1728000"/>
            <a:ext cx="1403999" cy="46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80597" y="1746000"/>
            <a:ext cx="136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SqlExecutorService
→ MssqlClient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999" y="252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5FB5"/>
                </a:solidFill>
                <a:latin typeface="맑은 고딕"/>
              </a:rPr>
              <a:t>공통 초기화 흐름: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000" y="277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5FB5"/>
                </a:solidFill>
                <a:latin typeface="맑은 고딕"/>
              </a:rPr>
              <a:t>load_config(config.yaml)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000" y="3078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BC0"/>
                </a:solidFill>
                <a:latin typeface="맑은 고딕"/>
              </a:rPr>
              <a:t>→ PromptManager(prompt_file)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000" y="3384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0000"/>
                </a:solidFill>
                <a:latin typeface="맑은 고딕"/>
              </a:rPr>
              <a:t>→ create_llm_client(config)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000" y="369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F4D"/>
                </a:solidFill>
                <a:latin typeface="맑은 고딕"/>
              </a:rPr>
              <a:t>→ (RAG) embed + retrieve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000" y="3996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3700"/>
                </a:solidFill>
                <a:latin typeface="맑은 고딕"/>
              </a:rPr>
              <a:t>→ SqlGuard.validate()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000" y="430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맑은 고딕"/>
              </a:rPr>
              <a:t>→ SqlExecutorService.execute()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0000" y="2520000"/>
            <a:ext cx="4788000" cy="324000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08000" y="2592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5FB5"/>
                </a:solidFill>
                <a:latin typeface="맑은 고딕"/>
              </a:rPr>
              <a:t>config.yaml 주요 설정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8000" y="28800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mode: natural_llm | prompt_llm | rag_prompt_llm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08000" y="31536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llm_provider: ollama | openai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8000" y="34272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ollama.model: qwen2.5:14b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8000" y="37008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retrieval.enabled: true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8000" y="39744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retrieval.chroma_path: ../Root_Ingest/data/chroma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8000" y="42480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retrieval.collection_name: doc_chunks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08000" y="45216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retrieval.top_k: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08000" y="47952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prompts.active_prompt: query_generation_prompt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08000" y="50688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database.host / .database / .port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8000" y="5342400"/>
            <a:ext cx="46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맑은 고딕"/>
              </a:rPr>
              <a:t>  sql.allow_only_select: true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모든 모드는 config.yaml → PromptManager → LLMClient 초기화를 동일하게 거친다. 차이점은 Retrieval과 DB 실행 여부뿐이다.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Planner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질문 → JSON 실행 계획 생성 → query_type 결정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600" y="1188000"/>
            <a:ext cx="2700000" cy="1440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4600" y="12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① 질문 입력
(question)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0600" y="1620000"/>
            <a:ext cx="2628000" cy="900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600" y="1656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run_planner_step()
← 04_end_to_end
  planner_flow.ipynb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64600.0" y="1908000.0"/>
            <a:ext cx="288000.0" cy="0.0"/>
          </a:xfrm>
          <a:prstGeom prst="line">
            <a:avLst/>
          </a:prstGeom>
          <a:ln w="25400">
            <a:solidFill>
              <a:srgbClr val="F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52600" y="1188000"/>
            <a:ext cx="2700000" cy="1440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2600" y="12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② Planner 프롬프트
조합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8600" y="1620000"/>
            <a:ext cx="2628000" cy="900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4600" y="1656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planner_prompt.py
build_planner_prompts()
planner_system_prompt
+ planner_user_prompt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52600.0" y="1908000.0"/>
            <a:ext cx="288000.0" cy="0.0"/>
          </a:xfrm>
          <a:prstGeom prst="line">
            <a:avLst/>
          </a:prstGeom>
          <a:ln w="25400">
            <a:solidFill>
              <a:srgbClr val="F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0600" y="1188000"/>
            <a:ext cx="2700000" cy="1440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600" y="12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③ LLM 호출
(온도=0.0)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6600" y="1620000"/>
            <a:ext cx="2628000" cy="900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2600" y="1656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PlannerService
.plan_question()
create_llm_client(config)
→ generate()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40600.0" y="1908000.0"/>
            <a:ext cx="288000.0" cy="0.0"/>
          </a:xfrm>
          <a:prstGeom prst="line">
            <a:avLst/>
          </a:prstGeom>
          <a:ln w="25400">
            <a:solidFill>
              <a:srgbClr val="F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28600" y="1188000"/>
            <a:ext cx="2700000" cy="1440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8600" y="12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④ JSON 파싱
&amp; 형식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4600" y="1620000"/>
            <a:ext cx="2628000" cy="900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0600" y="1656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맑은 고딕"/>
              </a:rPr>
              <a:t>PlannerJsonParseError
plan_validator.py
validate_plan_payload()
PlannerPlan.from_dict()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" y="2988000"/>
            <a:ext cx="11833200" cy="1368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" y="306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맑은 고딕"/>
              </a:rPr>
              <a:t>Planner 출력: query_type 분기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DB_ONLY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SQL 생성 + DB 실행만 수행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002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02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RAG_ONLY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02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문서 RAG 검색 중심으로 답변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24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24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GENERAL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24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DB/RAG 없이 LLM 직접 답변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246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46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DB_THEN_RAG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46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DB 결과 → 문서 RAG 추가 수행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368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8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DB_THEN_GENERAL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8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DB 결과 → 일반 설명 마무리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49000" y="3348000"/>
            <a:ext cx="18042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49000" y="3402000"/>
            <a:ext cx="1804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RAG_THEN_GENERAL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9000" y="3708000"/>
            <a:ext cx="1804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697A"/>
                </a:solidFill>
                <a:latin typeface="맑은 고딕"/>
              </a:rPr>
              <a:t>문서 RAG 먼저 → 일반 설명 마무리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0000" y="4464000"/>
            <a:ext cx="5760000" cy="1692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00" y="4536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7F4D"/>
                </a:solidFill>
                <a:latin typeface="맑은 고딕"/>
              </a:rPr>
              <a:t>✅ 현재 구현됨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000" y="4788000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PlannerService.plan_question() — LLM → JSON 파싱 → 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000" y="5039999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PlannerPlan / PlannerStep dataclass (models.py)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000" y="5291998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plan_validator.py — query_type, steps 최소 구조 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000" y="5543997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planner_prompt.py — prompt_templates.yaml 키 바인딩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000" y="5795996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planner_flow_runner.py — run_planner_step() E2E 연계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0000" y="4464000"/>
            <a:ext cx="5868000" cy="1692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55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8000" y="4536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697A"/>
                </a:solidFill>
                <a:latin typeface="맑은 고딕"/>
              </a:rPr>
              <a:t>⚠️ 현재 제외 / TODO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999" y="4788000"/>
            <a:ext cx="57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Planner 독립 API 엔드포인트 — 미구현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999" y="5039999"/>
            <a:ext cx="57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Planner 결과의 자동 캐싱 — 미구현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999" y="5291998"/>
            <a:ext cx="57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query_type별 자동 라우팅 직접 연결 — 별도 E2E 함수로만 구현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999" y="5543997"/>
            <a:ext cx="57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streaming 응답 지원 — 미구현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Planner는 질문을 JSON 실행 계획(query_type + steps 배열)으로 변환한다. DB/RAG/LLM 중 어떤 경로를 쓸지 결정하는 라우터 역할이다.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natural_llm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최소 처리 — 질문을 LLM에 직접 전달해 SQL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88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124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① 사용자 질문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1224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StreamRequest(question=...)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0" y="1224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stream_orchestrator.py → run(question)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0000.0" y="1584000"/>
            <a:ext cx="0.0" cy="288000"/>
          </a:xfrm>
          <a:prstGeom prst="line">
            <a:avLst/>
          </a:prstGeom>
          <a:ln w="25400">
            <a:solidFill>
              <a:srgbClr val="3A8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0000" y="1872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926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② mode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1908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config.mode = 'natural_llm'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1908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StreamOrchestrator._resolve_mode() → 'natural_llm'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.0" y="2268000"/>
            <a:ext cx="0.0" cy="288000"/>
          </a:xfrm>
          <a:prstGeom prst="line">
            <a:avLst/>
          </a:prstGeom>
          <a:ln w="25400">
            <a:solidFill>
              <a:srgbClr val="3A8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0000" y="2556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2610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③ default_system_prompt 로딩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000" y="2592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prompt_manager.get_prompt('default_system_prompt')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0" y="2592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MSSQL 전용 Text-to-SQL 전문가 지시문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0000.0" y="2952000"/>
            <a:ext cx="0.0" cy="288000"/>
          </a:xfrm>
          <a:prstGeom prst="line">
            <a:avLst/>
          </a:prstGeom>
          <a:ln w="25400">
            <a:solidFill>
              <a:srgbClr val="3A8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0000" y="3240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329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④ user_prompt = question.strip()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276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별도 템플릿 없음 — 질문 그대로 전달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0" y="3276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schema_context / business_rules 없음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0000.0" y="3636000"/>
            <a:ext cx="0.0" cy="288000"/>
          </a:xfrm>
          <a:prstGeom prst="line">
            <a:avLst/>
          </a:prstGeom>
          <a:ln w="25400">
            <a:solidFill>
              <a:srgbClr val="3A8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0000" y="3924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000" y="3978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⑤ LLM 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3960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llm_client.generate(system_prompt, user_prompt)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0" y="3960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Ollama(qwen2.5:14b) 또는 OpenAI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000.0" y="4320000"/>
            <a:ext cx="0.0" cy="288000"/>
          </a:xfrm>
          <a:prstGeom prst="line">
            <a:avLst/>
          </a:prstGeom>
          <a:ln w="25400">
            <a:solidFill>
              <a:srgbClr val="3A8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0000" y="4608000"/>
            <a:ext cx="1620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466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⑥ StreamResult 반환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0000" y="46440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mode='natural_llm', query=생성된SQL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0000" y="4644000"/>
            <a:ext cx="51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CLI → JSON 출력 / FastAPI → HTTP 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0000" y="5508000"/>
            <a:ext cx="5580000" cy="10800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" y="558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86FF"/>
                </a:solidFill>
                <a:latin typeface="맑은 고딕"/>
              </a:rPr>
              <a:t>✅  natural_llm 특징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" y="5832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구현 단순 — 프롬프트 키 'default_system_prompt' 하나만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000" y="6066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추가 데이터 없이 즉시 실행 가능 (ChromaDB 불필요)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테스트/프로토타이핑에 적합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0000" y="5508000"/>
            <a:ext cx="5868000" cy="108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55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8000" y="558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697A"/>
                </a:solidFill>
                <a:latin typeface="맑은 고딕"/>
              </a:rPr>
              <a:t>⚠️  한계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999" y="5832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• 스키마 컨텍스트 없음 → 없는 테이블명 생성 가능성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999" y="6066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• RAG 검색 없음 → 도메인 지식 활용 불가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999" y="630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• 실제 운영보다는 빠른 확인용으로 권장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natural_llm = 가장 단순한 경로. 스키마 없이 LLM에 질문을 그대로 전달한다. 빠른 테스트 용도에 적합하다.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prompt_llm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스키마·업무 규칙을 템플릿에 결합해 SQL 생성 품질 향상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88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124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① 질문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1206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StreamRequest(question=...)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0" y="1206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stream_orchestrator.py → mode='prompt_llm'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0000.0" y="1584000"/>
            <a:ext cx="0.0" cy="270000"/>
          </a:xfrm>
          <a:prstGeom prst="line">
            <a:avLst/>
          </a:prstGeom>
          <a:ln w="25400">
            <a:solidFill>
              <a:srgbClr val="6A0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0000" y="1854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908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② active_prompt 키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1872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config.prompts.active_prompt
= 'query_generation_prompt'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1872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mode_prompt_llm.py
→ prompts_config.get('active_prompt')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.0" y="2250000"/>
            <a:ext cx="0.0" cy="270000"/>
          </a:xfrm>
          <a:prstGeom prst="line">
            <a:avLst/>
          </a:prstGeom>
          <a:ln w="25400">
            <a:solidFill>
              <a:srgbClr val="6A0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0000" y="2520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257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③ 템플릿 변수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000" y="2538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_build_prompt_values() 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0" y="2538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question / schema_context
business_rules / additional_constraints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0000.0" y="2916000"/>
            <a:ext cx="0.0" cy="270000"/>
          </a:xfrm>
          <a:prstGeom prst="line">
            <a:avLst/>
          </a:prstGeom>
          <a:ln w="25400">
            <a:solidFill>
              <a:srgbClr val="6A0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0000" y="3186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3240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④ 프롬프트 렌더링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204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prompt_manager.render_prompt(
  'query_generation_prompt', values)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0" y="3204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prompt_templates.yaml 내
{question} {schema_context} 치환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0000.0" y="3582000"/>
            <a:ext cx="0.0" cy="270000"/>
          </a:xfrm>
          <a:prstGeom prst="line">
            <a:avLst/>
          </a:prstGeom>
          <a:ln w="25400">
            <a:solidFill>
              <a:srgbClr val="6A0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0000" y="3852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000" y="3906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⑤ LLM 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3870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llm_client.generate(
  system_prompt, user_prompt)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0" y="3870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Ollama(qwen2.5:14b) / OpenAI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000.0" y="4248000"/>
            <a:ext cx="0.0" cy="270000"/>
          </a:xfrm>
          <a:prstGeom prst="line">
            <a:avLst/>
          </a:prstGeom>
          <a:ln w="25400">
            <a:solidFill>
              <a:srgbClr val="6A0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0000" y="4518000"/>
            <a:ext cx="1620000" cy="396000"/>
          </a:xfrm>
          <a:prstGeom prst="roundRect">
            <a:avLst/>
          </a:prstGeom>
          <a:solidFill>
            <a:srgbClr val="6A008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4572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⑥ StreamResult 반환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0000" y="4536000"/>
            <a:ext cx="46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A008E"/>
                </a:solidFill>
                <a:latin typeface="맑은 고딕"/>
              </a:rPr>
              <a:t>mode='prompt_llm'
prompt_key='query_generation_prompt'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0000" y="45360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CLI → JSON / FastAPI → HTTP 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0000" y="5400000"/>
            <a:ext cx="5580000" cy="126000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6A0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00" y="5472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008E"/>
                </a:solidFill>
                <a:latin typeface="맑은 고딕"/>
              </a:rPr>
              <a:t>query_generation_prompt 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" y="5724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A008E"/>
                </a:solidFill>
                <a:latin typeface="맑은 고딕"/>
              </a:rPr>
              <a:t>  {question}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40000" y="5724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사용자 자연어 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000" y="595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A008E"/>
                </a:solidFill>
                <a:latin typeface="맑은 고딕"/>
              </a:rPr>
              <a:t>  {schema_context}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0000" y="5958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ERROR_LOG_DATA / EVENT_LOG_DATA / WARNING_LOG_DATA 테이블 설명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000" y="6192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A008E"/>
                </a:solidFill>
                <a:latin typeface="맑은 고딕"/>
              </a:rPr>
              <a:t>  {business_rules}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0000" y="619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분석 규칙 (EQPID 기준, ALARMID+TEXT 함께 반환 등)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000" y="6426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A008E"/>
                </a:solidFill>
                <a:latin typeface="맑은 고딕"/>
              </a:rPr>
              <a:t>  {additional_constraints}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40000" y="6426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추가 제약 (기본값: 빈 문자열)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0000" y="5400000"/>
            <a:ext cx="5868000" cy="1260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8000" y="5472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7F4D"/>
                </a:solidFill>
                <a:latin typeface="맑은 고딕"/>
              </a:rPr>
              <a:t>✅  natural_llm 대비 개선점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999" y="5724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schema_context 포함 → 실제 테이블/컬럼명 기반 SQL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999" y="5958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business_rules 포함 → 도메인 분석 규칙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999" y="6192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RAG 없이도 높은 정확도 가능 (스키마 명시적 제공 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999" y="6426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• ChromaDB 불필요 — 빠른 응답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prompt_llm = 스키마·업무 규칙을 프롬프트 템플릿에 주입해 SQL 품질을 높인다. RAG 없이 가장 현실적인 중간 단계이다.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rag_prompt_llm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ChromaDB 검색 결과를 프롬프트에 결합 → 가장 높은 SQL 정확도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880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12420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① 질문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11952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StreamRequest(question=...)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8000" y="11952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mode='rag_prompt_llm'
retrieval.enabled=true 필요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6000.0" y="1584000"/>
            <a:ext cx="0.0" cy="2232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0000" y="18072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8612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② 질의 임베딩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18144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SentenceTransformerEmbeddingService
.embed_query(question)
→ list[float]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8000" y="18144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embedding_model:
paraphrase-multilingual
-MiniLM-L12-v2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6000.0" y="2203200"/>
            <a:ext cx="0.0" cy="2232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0000" y="2426400"/>
            <a:ext cx="1512000" cy="396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24804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③ ChromaDB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24336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ChromaRetriever.retrieve(query_embedding)
collection='doc_chunks', top_k=3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8000" y="24336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← Root_Ingest가 적재한
ChromaDB 컬렉션 사용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6000.0" y="2822400"/>
            <a:ext cx="0.0" cy="223200"/>
          </a:xfrm>
          <a:prstGeom prst="line">
            <a:avLst/>
          </a:prstGeom>
          <a:ln w="254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0000" y="30456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30996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④ context 블록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0" y="30528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_build_context_block(contexts)
검색된 청크 텍스트 결합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8000" y="30528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RetrievedContext 리스트
(chunk_id, text, score, metadata)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6000.0" y="3441600"/>
            <a:ext cx="0.0" cy="2232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0000" y="36648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000" y="37188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⑤ 프롬프트 렌더링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0" y="36720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prompt_manager.render_prompt(
  'rag_query_generation_prompt', values)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8000" y="36720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{question} + {retrieved_context}
+ schema_context + constraints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6000.0" y="4060800"/>
            <a:ext cx="0.0" cy="2232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0000" y="42840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43380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⑥ LLM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0" y="42912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llm_client.generate(system, user)
→ SQL 반환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8000" y="42912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Ollama(qwen2.5:14b) / OpenAI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6000.0" y="4680000"/>
            <a:ext cx="0.0" cy="223200"/>
          </a:xfrm>
          <a:prstGeom prst="line">
            <a:avLst/>
          </a:prstGeom>
          <a:ln w="254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80000" y="4903200"/>
            <a:ext cx="1512000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0000" y="4957200"/>
            <a:ext cx="15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⑦ StreamResult 반환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0000" y="49104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5FB5"/>
                </a:solidFill>
                <a:latin typeface="맑은 고딕"/>
              </a:rPr>
              <a:t>mode='rag_prompt_llm'
retrieved_contexts=[...] 포함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8000" y="49104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5697A"/>
                </a:solidFill>
                <a:latin typeface="맑은 고딕"/>
              </a:rPr>
              <a:t>검색 근거 추적 가능
(디버깅·설명 가능성↑)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0000" y="5652000"/>
            <a:ext cx="5580000" cy="900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00" y="5724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7F4D"/>
                </a:solidFill>
                <a:latin typeface="맑은 고딕"/>
              </a:rPr>
              <a:t>Root_Ingest 연결 관계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000" y="5976000"/>
            <a:ext cx="54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B5E20"/>
                </a:solidFill>
                <a:latin typeface="맑은 고딕"/>
              </a:rPr>
              <a:t>  • Root_Ingest/data/chroma  ──▶  retrieval.chroma_path 설정으로 rag_prompt_llm이 직접 읽음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000" y="6174000"/>
            <a:ext cx="54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B5E20"/>
                </a:solidFill>
                <a:latin typeface="맑은 고딕"/>
              </a:rPr>
              <a:t>  • Root_Ingest가 생성한 collection_name='doc_chunks'를 collection_name 설정으로 지정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000" y="6372000"/>
            <a:ext cx="540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B5E20"/>
                </a:solidFill>
                <a:latin typeface="맑은 고딕"/>
              </a:rPr>
              <a:t>  • 임베딩 모델 일치 필수: Root_Ingest embedding.model_name == retrieval.embedding_model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0000" y="5652000"/>
            <a:ext cx="5868000" cy="90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8000" y="5724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✅  rag_prompt_llm 특징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999" y="5976000"/>
            <a:ext cx="576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5FB5"/>
                </a:solidFill>
                <a:latin typeface="맑은 고딕"/>
              </a:rPr>
              <a:t>• ChromaDB top-k 청크로 테이블 DDL·설명 동적 제공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999" y="6174000"/>
            <a:ext cx="576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5FB5"/>
                </a:solidFill>
                <a:latin typeface="맑은 고딕"/>
              </a:rPr>
              <a:t>• 동적 컨텍스트 → 스키마 업데이트 시 자동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999" y="6372000"/>
            <a:ext cx="5760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5FB5"/>
                </a:solidFill>
                <a:latin typeface="맑은 고딕"/>
              </a:rPr>
              <a:t>• retrieved_contexts 포함 → 응답 근거 추적 가능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rag_prompt_llm = Root_Ingest가 만든 ChromaDB를 검색해 동적 컨텍스트를 주입한다. 현재 config.yaml의 기본 mode이다.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API_SERVER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FastAPI 서버 — HTTP 요청 → mode 처리 → SQL 생성 응답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88000"/>
            <a:ext cx="4680000" cy="45000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1260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맑은 고딕"/>
              </a:rPr>
              <a:t>FastAPI 서버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1548000"/>
            <a:ext cx="4500000" cy="360000"/>
          </a:xfrm>
          <a:prstGeom prst="roundRect">
            <a:avLst/>
          </a:prstGeom>
          <a:solidFill>
            <a:srgbClr val="0096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602000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api_app.py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944000"/>
            <a:ext cx="44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FastAPI 앱 생성 + /health 엔드포인트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8000" y="1908000"/>
            <a:ext cx="0" cy="467999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00" y="2375999"/>
            <a:ext cx="4500000" cy="360000"/>
          </a:xfrm>
          <a:prstGeom prst="roundRect">
            <a:avLst/>
          </a:prstGeom>
          <a:solidFill>
            <a:srgbClr val="0096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2429999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routes.py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2771999"/>
            <a:ext cx="44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POST /api/query/generate
QueryGenerateRequest → response_model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38000" y="2735999"/>
            <a:ext cx="0" cy="467999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000" y="3203998"/>
            <a:ext cx="4500000" cy="360000"/>
          </a:xfrm>
          <a:prstGeom prst="roundRect">
            <a:avLst/>
          </a:prstGeom>
          <a:solidFill>
            <a:srgbClr val="00529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3257998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query_service.py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" y="3599998"/>
            <a:ext cx="44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generate_stream_query(question, mode)
→ StreamOrchestrator 위임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38000" y="3563998"/>
            <a:ext cx="0" cy="467999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00" y="4031997"/>
            <a:ext cx="4500000" cy="360000"/>
          </a:xfrm>
          <a:prstGeom prst="roundRect">
            <a:avLst/>
          </a:prstGeom>
          <a:solidFill>
            <a:srgbClr val="0046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4085997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stream_orchestrator.py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" y="4427997"/>
            <a:ext cx="44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mode 선택 → natural/prompt/rag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" y="4680000"/>
            <a:ext cx="4500000" cy="900000"/>
          </a:xfrm>
          <a:prstGeom prst="roundRect">
            <a:avLst/>
          </a:prstGeom>
          <a:solidFill>
            <a:srgbClr val="F8FD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4752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9688"/>
                </a:solidFill>
                <a:latin typeface="맑은 고딕"/>
              </a:rPr>
              <a:t>mode 별칭 매핑 (query_service.py)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5004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'natural'   → 'natural_llm'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520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'prompt'    → 'prompt_llm'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540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'rag_prompt'→ 'rag_prompt_llm'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0000" y="1188000"/>
            <a:ext cx="6948000" cy="2700000"/>
          </a:xfrm>
          <a:prstGeom prst="round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000" y="1260000"/>
            <a:ext cx="676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  <a:latin typeface="맑은 고딕"/>
              </a:rPr>
              <a:t>Sample Request /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00" y="1512000"/>
            <a:ext cx="67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FFC4"/>
                </a:solidFill>
                <a:latin typeface="맑은 고딕"/>
              </a:rPr>
              <a:t>POST /api/query/generate
{
  "question": "최근 30일 각 설비별 에러 건수는?",
  "mode": "rag_prompt"
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0000" y="2628000"/>
            <a:ext cx="6948000" cy="1152000"/>
          </a:xfrm>
          <a:prstGeom prst="roundRect">
            <a:avLst/>
          </a:prstGeom>
          <a:solidFill>
            <a:srgbClr val="1212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00" y="2700000"/>
            <a:ext cx="67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E082"/>
                </a:solidFill>
                <a:latin typeface="맑은 고딕"/>
              </a:rPr>
              <a:t>HTTP 200 OK
{
  "success": true,
  "mode": "rag_prompt",
  "question": "최근 30일 각 설비별 에러 건수는?",
  "generated_query": "SELECT EQPID, COUNT(*) ..."
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0000" y="3960000"/>
            <a:ext cx="6948000" cy="17280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8000" y="4031999"/>
            <a:ext cx="68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688"/>
                </a:solidFill>
                <a:latin typeface="맑은 고딕"/>
              </a:rPr>
              <a:t>debug_client.py — 디버그 클라이언트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000" y="42840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고정 질문을 서버에 POST — VS Code 브레이크포인트 확인용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000" y="44856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STREAM_SERVER_ENDPOINT 환경변수로 대상 지정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000" y="46872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STREAM_SERVER_MODE로 mode 설정 (기본: 'prompt')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000" y="48888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python -m Root_Stream.server.debug_client 로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000" y="50904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response.json() 전체를 로거로 출력해 응답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000" y="52920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현재 구현됨: GET /health + POST /api/query/generate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4000" y="5493600"/>
            <a:ext cx="67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333333"/>
                </a:solidFill>
                <a:latin typeface="맑은 고딕"/>
              </a:rPr>
              <a:t>• TODO: SQL 실행 결과 포함 엔드포인트 미구현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API_SERVER = FastAPI로 HTTP 인터페이스를 제공. mode 별칭으로 외부 클라이언트가 쉽게 접근하고, debug_client로 빠른 브레이크포인트 테스트가 가능하다.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End-to-End 시퀀스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사용자 질문 → Planner → Stream mode 분기 → SQL Guard → DB 실행 → 답변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400" y="1080000"/>
            <a:ext cx="1224000" cy="324000"/>
          </a:xfrm>
          <a:prstGeom prst="roundRect">
            <a:avLst/>
          </a:prstGeom>
          <a:solidFill>
            <a:srgbClr val="FFC3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4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910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16200" y="1080000"/>
            <a:ext cx="1224000" cy="324000"/>
          </a:xfrm>
          <a:prstGeom prst="roundRect">
            <a:avLst/>
          </a:prstGeom>
          <a:solidFill>
            <a:srgbClr val="0096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62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API/CLI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138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9000" y="1080000"/>
            <a:ext cx="1224000" cy="324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90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Planner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66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1800" y="1080000"/>
            <a:ext cx="1224000" cy="324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18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Orchestrator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94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4600" y="1080000"/>
            <a:ext cx="1224000" cy="324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46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EmbedSvc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22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07400" y="1080000"/>
            <a:ext cx="1224000" cy="324000"/>
          </a:xfrm>
          <a:prstGeom prst="roundRect">
            <a:avLst/>
          </a:prstGeom>
          <a:solidFill>
            <a:srgbClr val="00468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74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ChromaDB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50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0200" y="1080000"/>
            <a:ext cx="1224000" cy="324000"/>
          </a:xfrm>
          <a:prstGeom prst="roundRect">
            <a:avLst/>
          </a:prstGeom>
          <a:solidFill>
            <a:srgbClr val="8B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02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278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53000" y="1080000"/>
            <a:ext cx="1224000" cy="324000"/>
          </a:xfrm>
          <a:prstGeom prst="roundRect">
            <a:avLst/>
          </a:prstGeom>
          <a:solidFill>
            <a:srgbClr val="E637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30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SQL Guard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06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775800" y="1080000"/>
            <a:ext cx="1224000" cy="324000"/>
          </a:xfrm>
          <a:prstGeom prst="roundRect">
            <a:avLst/>
          </a:prstGeom>
          <a:solidFill>
            <a:srgbClr val="5555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75800" y="1134000"/>
            <a:ext cx="12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MSSQL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73400" y="1404000"/>
            <a:ext cx="28800" cy="4734000"/>
          </a:xfrm>
          <a:prstGeom prst="rect">
            <a:avLst/>
          </a:prstGeom>
          <a:solidFill>
            <a:srgbClr val="CCCCC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05400.0" y="1512000"/>
            <a:ext cx="1322800.0" cy="0"/>
          </a:xfrm>
          <a:prstGeom prst="line">
            <a:avLst/>
          </a:prstGeom>
          <a:ln w="127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4800" y="1375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5FB5"/>
                </a:solidFill>
                <a:latin typeface="맑은 고딕"/>
              </a:rPr>
              <a:t>① 질문 입력 (question, mode, use_planner)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28200.0" y="1835999"/>
            <a:ext cx="1322800.0" cy="0"/>
          </a:xfrm>
          <a:prstGeom prst="line">
            <a:avLst/>
          </a:prstGeom>
          <a:ln w="12700">
            <a:solidFill>
              <a:srgbClr val="F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37600" y="1699199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F8F00"/>
                </a:solidFill>
                <a:latin typeface="맑은 고딕"/>
              </a:rPr>
              <a:t>② run_planner_step(question) [선택]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128200.0" y="2160000"/>
            <a:ext cx="1322800.0" cy="0"/>
          </a:xfrm>
          <a:prstGeom prst="line">
            <a:avLst/>
          </a:prstGeom>
          <a:ln w="12700">
            <a:solidFill>
              <a:srgbClr val="F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37600" y="2023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F8F00"/>
                </a:solidFill>
                <a:latin typeface="맑은 고딕"/>
              </a:rPr>
              <a:t>③ query_type 반환 (예: DB_THEN_RAG)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28200.0" y="2484000"/>
            <a:ext cx="2645600.0" cy="0"/>
          </a:xfrm>
          <a:prstGeom prst="line">
            <a:avLst/>
          </a:prstGeom>
          <a:ln w="127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99000" y="2347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5FB5"/>
                </a:solidFill>
                <a:latin typeface="맑은 고딕"/>
              </a:rPr>
              <a:t>④ generate_stream_query(question, mode)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773800.0" y="2808000"/>
            <a:ext cx="1322800.0" cy="0"/>
          </a:xfrm>
          <a:prstGeom prst="line">
            <a:avLst/>
          </a:prstGeom>
          <a:ln w="127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83200" y="2671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1B7F4D"/>
                </a:solidFill>
                <a:latin typeface="맑은 고딕"/>
              </a:rPr>
              <a:t>⑤ embed_query(question) [RAG 모드]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773800.0" y="3131999"/>
            <a:ext cx="1322800.0" cy="0"/>
          </a:xfrm>
          <a:prstGeom prst="line">
            <a:avLst/>
          </a:prstGeom>
          <a:ln w="12700">
            <a:solidFill>
              <a:srgbClr val="1B7F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283200" y="2995199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1B7F4D"/>
                </a:solidFill>
                <a:latin typeface="맑은 고딕"/>
              </a:rPr>
              <a:t>⑥ query_embedding 반환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73800.0" y="3456000"/>
            <a:ext cx="2645600.0" cy="0"/>
          </a:xfrm>
          <a:prstGeom prst="line">
            <a:avLst/>
          </a:prstGeom>
          <a:ln w="12700">
            <a:solidFill>
              <a:srgbClr val="004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44600" y="3319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4685"/>
                </a:solidFill>
                <a:latin typeface="맑은 고딕"/>
              </a:rPr>
              <a:t>⑦ collection.query(embedding, top_k=3)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4773800.0" y="3780000"/>
            <a:ext cx="2645600.0" cy="0"/>
          </a:xfrm>
          <a:prstGeom prst="line">
            <a:avLst/>
          </a:prstGeom>
          <a:ln w="12700">
            <a:solidFill>
              <a:srgbClr val="004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44600" y="3643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4685"/>
                </a:solidFill>
                <a:latin typeface="맑은 고딕"/>
              </a:rPr>
              <a:t>⑧ top-k chunks 반환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773800.0" y="4104000"/>
            <a:ext cx="3968400.0" cy="0"/>
          </a:xfrm>
          <a:prstGeom prst="line">
            <a:avLst/>
          </a:prstGeom>
          <a:ln w="12700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06000" y="3967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8B0000"/>
                </a:solidFill>
                <a:latin typeface="맑은 고딕"/>
              </a:rPr>
              <a:t>⑨ generate(system_prompt + context + question)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4773800.0" y="4428000"/>
            <a:ext cx="3968400.0" cy="0"/>
          </a:xfrm>
          <a:prstGeom prst="line">
            <a:avLst/>
          </a:prstGeom>
          <a:ln w="12700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06000" y="4291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8B0000"/>
                </a:solidFill>
                <a:latin typeface="맑은 고딕"/>
              </a:rPr>
              <a:t>⑩ 생성된 SQL 반환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773800.0" y="4752000"/>
            <a:ext cx="5291200.0" cy="0"/>
          </a:xfrm>
          <a:prstGeom prst="line">
            <a:avLst/>
          </a:prstGeom>
          <a:ln w="12700">
            <a:solidFill>
              <a:srgbClr val="E63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67400" y="4615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E63700"/>
                </a:solidFill>
                <a:latin typeface="맑은 고딕"/>
              </a:rPr>
              <a:t>⑪ validate_query_sql(sql) — SELECT-only 검증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4773800.0" y="5076000"/>
            <a:ext cx="5291200.0" cy="0"/>
          </a:xfrm>
          <a:prstGeom prst="line">
            <a:avLst/>
          </a:prstGeom>
          <a:ln w="12700">
            <a:solidFill>
              <a:srgbClr val="E63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67400" y="4939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E63700"/>
                </a:solidFill>
                <a:latin typeface="맑은 고딕"/>
              </a:rPr>
              <a:t>⑫ 검증 통과 SQL 반환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773800.0" y="5400000"/>
            <a:ext cx="6614000.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928800" y="5263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555555"/>
                </a:solidFill>
                <a:latin typeface="맑은 고딕"/>
              </a:rPr>
              <a:t>⑬ execute(sql) [--execute-sql 옵션 시]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4773800.0" y="5724000"/>
            <a:ext cx="6614000.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28800" y="5587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555555"/>
                </a:solidFill>
                <a:latin typeface="맑은 고딕"/>
              </a:rPr>
              <a:t>⑭ rows 반환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2128200.0" y="5940000"/>
            <a:ext cx="2645600.0" cy="0"/>
          </a:xfrm>
          <a:prstGeom prst="line">
            <a:avLst/>
          </a:prstGeom>
          <a:ln w="12700">
            <a:solidFill>
              <a:srgbClr val="005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299000" y="5803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5FB5"/>
                </a:solidFill>
                <a:latin typeface="맑은 고딕"/>
              </a:rPr>
              <a:t>⑮ StreamResult / E2E 최종 답변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805400.0" y="6156000"/>
            <a:ext cx="1322800.0" cy="0"/>
          </a:xfrm>
          <a:prstGeom prst="line">
            <a:avLst/>
          </a:prstGeom>
          <a:ln w="1270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14800" y="6019200"/>
            <a:ext cx="23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FC300"/>
                </a:solidFill>
                <a:latin typeface="맑은 고딕"/>
              </a:rPr>
              <a:t>⑯ HTTP 응답 / CLI JSON 출력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Planner(선택) → Stream mode 분기 → RAG 검색 → LLM → SQL Guard → DB 실행 → 답변. SQL Guard는 SELECT-only 안전 게이트이다.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실행 명령 / 운영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CLI / SQL 실행 / RAG 사용 / FastAPI 서버 실행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1188000"/>
            <a:ext cx="5736600" cy="27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" y="12168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1) CLI — natural_llm / prompt_llm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1458000"/>
            <a:ext cx="5736600" cy="208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000" y="1512000"/>
            <a:ext cx="56286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A8FFC4"/>
                </a:solidFill>
                <a:latin typeface="맑은 고딕"/>
              </a:rPr>
              <a:t># Root_Stream/config/config.yaml에서 mode 설정 후 실행
python -m Root_Stream.main \
  --config Root_Stream/config/config.yaml \
  --question "최근 에러 TOP 5를 보여줘"
# mode: natural_llm  →  스키마 없이 직접 LLM 호출
# mode: prompt_llm   →  schema_context + business_rules 주입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5176575999" y="1188000"/>
            <a:ext cx="5736600" cy="27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5176647999" y="12168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2) CLI — SQL 실행 포함 (MSSQL 연결 필요)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5176575999" y="1458000"/>
            <a:ext cx="5736600" cy="208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5176647999" y="1512000"/>
            <a:ext cx="56286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A8FFC4"/>
                </a:solidFill>
                <a:latin typeface="맑은 고딕"/>
              </a:rPr>
              <a:t>python -m Root_Stream.main \
  --question "설비별 에러 건수를 조회해줘" \
  --execute-sql
# --execute-sql: 생성된 SQL을 MSSQL에서 실제 실행
# config.yaml database.host / .database / .password 설정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3708000"/>
            <a:ext cx="5736600" cy="27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000" y="37368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3) RAG 사용 (rag_prompt_llm)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978000"/>
            <a:ext cx="5736600" cy="208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000" y="4032000"/>
            <a:ext cx="56286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A8FFC4"/>
                </a:solidFill>
                <a:latin typeface="맑은 고딕"/>
              </a:rPr>
              <a:t># config.yaml에서 mode: rag_prompt_llm 설정
# retrieval.chroma_path: ../Root_Ingest/data/chroma
# retrieval.collection_name: doc_chunks
# Root_Ingest 실행 먼저 (ChromaDB 생성)
python -m Root_Ingest.ingest.ingest_pipeline \
  --config Root_Ingest/config/config.yaml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5176575999" y="3708000"/>
            <a:ext cx="5736600" cy="27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5176647999" y="3736800"/>
            <a:ext cx="562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4) FastAPI 서버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65176575999" y="3978000"/>
            <a:ext cx="5736600" cy="208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65176647999" y="4032000"/>
            <a:ext cx="56286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A8FFC4"/>
                </a:solidFill>
                <a:latin typeface="맑은 고딕"/>
              </a:rPr>
              <a:t># 서버 시작
uvicorn Root_Stream.server.api_app:app \
  --host 0.0.0.0 --port 8000 --reload
# 헬스 체크
curl http://localhost:8000/health
# 디버그 클라이언트 실행
python -m Root_Stream.server.debug_client \
  --mode rag_prompt --question "에러 로그 조회"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CLI, FastAPI, 노트북 모두 동일한 StreamOrchestrator를 재사용한다. 진입점만 다르다.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현재 구현 범위 / 한계 /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소스 기준 실제 구현됨 vs 미구현 / 향후 확장 포인트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52000"/>
            <a:ext cx="3708000" cy="48600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0000" y="1152000"/>
            <a:ext cx="3708000" cy="396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20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✅ 현재 구현됨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620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Planner: LLM → JSON 파싱 → 검증 → PlannerPlan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9152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natural_llm: system_prompt + 질문 직접 LLM 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2104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prompt_llm: 템플릿 + schema_context + business_rules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5056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rag_prompt_llm: embed → ChromaDB →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8008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SQL Guard: SELECT-only, 금지 키워드 14종 차단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096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SqlExecutorService: MSSQL 실행 (pymssql)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33912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StreamOrchestrator: mode 분기 통합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36864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FastAPI 서버: POST /api/query/generate + 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39816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debug_client.py: 서버 브레이크포인트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42768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Root_Ingest 파이프라인: 수집→파싱→청킹→임베딩→ChromaDB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4572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E2E runner: run_planner/db/rag/final_answer_step()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48672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config.yaml 기반 완전한 설정 주입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51624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단위 테스트: config_loader, SQL guard, mode_resolution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54576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5E20"/>
                </a:solidFill>
                <a:latin typeface="맑은 고딕"/>
              </a:rPr>
              <a:t>  • 노트북: 단계별 검증 (01~06, planner_flow)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8000" y="1152000"/>
            <a:ext cx="3708000" cy="2304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55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68000" y="1152000"/>
            <a:ext cx="3708000" cy="396000"/>
          </a:xfrm>
          <a:prstGeom prst="roundRect">
            <a:avLst/>
          </a:prstGeom>
          <a:solidFill>
            <a:srgbClr val="55697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6000" y="120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⚠️ 현재 미구현 / 제외됨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6000" y="1620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Planner 독립 API 엔드포인트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6000" y="19152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streaming 응답 (SSE/WebSocket) 미구현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6000" y="22104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SQL 실행 결과 포함 API 엔드포인트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6000" y="25056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Planner 결과 캐싱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00" y="28008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임베딩 결과 캐싱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6000" y="3096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6000"/>
                </a:solidFill>
                <a:latin typeface="맑은 고딕"/>
              </a:rPr>
              <a:t>  • 인증/인가 (API Key, JWT 등)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8000" y="3528000"/>
            <a:ext cx="3708000" cy="2484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68000" y="3528000"/>
            <a:ext cx="3708000" cy="396000"/>
          </a:xfrm>
          <a:prstGeom prst="roundRect">
            <a:avLst/>
          </a:prstGeom>
          <a:solidFill>
            <a:srgbClr val="3A8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6000" y="358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🚀 향후 확장 포인트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00" y="399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Planner API 엔드포인트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6000" y="42696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Streaming 응답 지원 (AsyncGenerator)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6000" y="45432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SQL 실행 결과 포함 E2E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6000" y="48168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임베딩 / Planner 결과 Redis 캐싱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6000" y="50904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Fine-tuned LLM으로 교체 지원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6000" y="5364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피드백 루프: 잘못된 SQL 재학습 데이터 적재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6000" y="56376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멀티 컬렉션 RAG 검색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6000" y="59112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A86FF"/>
                </a:solidFill>
                <a:latin typeface="맑은 고딕"/>
              </a:rPr>
              <a:t>  • API Key 기반 인증 미들웨어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6000" y="1152000"/>
            <a:ext cx="4031999" cy="486000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56000" y="1152000"/>
            <a:ext cx="4031999" cy="396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3999" y="120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🔧 기술 스택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3999" y="16200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언어: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000" y="16200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Python 3.x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3999" y="19152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LLM: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000" y="19152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Ollama (qwen2.5:14b) / OpenAI GPT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3999" y="22104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임베딩: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000" y="22104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sentence-transformers multilingual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3999" y="25056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VectorDB: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000" y="25056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ChromaDB (PersistentClient)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3999" y="28008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RDBMS: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000" y="28008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MSSQL (pymssql)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3999" y="30960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서버: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000" y="30960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FastAPI + uvicorn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63999" y="33912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설정: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000" y="33912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YAML (config.yaml)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3999" y="36864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로깅: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000" y="36864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Python logging → data/logs/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63999" y="39816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테스트: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000" y="39816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pytest + 단위 테스트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3999" y="42768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노트북: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000" y="42768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Jupyter Notebook (01~06 + E2E)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3999" y="4572000"/>
            <a:ext cx="1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FB5"/>
                </a:solidFill>
                <a:latin typeface="맑은 고딕"/>
              </a:rPr>
              <a:t>  PPT: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000" y="4572000"/>
            <a:ext cx="27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697A"/>
                </a:solidFill>
                <a:latin typeface="맑은 고딕"/>
              </a:rPr>
              <a:t>python-pptx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핵심 기능은 모두 구현됨. 스트리밍·인증·캐싱·독립 Planner API가 주요 확장 포인트이다.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72000"/>
            <a:ext cx="116892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40000"/>
            <a:ext cx="1168920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5FF"/>
                </a:solidFill>
                <a:latin typeface="맑은 고딕"/>
              </a:rPr>
              <a:t>핵심 포인트 요약 — Planner &amp; Stream의 역할 차이 · RAG &amp; API 위치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188000"/>
            <a:ext cx="5580000" cy="234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126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F00"/>
                </a:solidFill>
                <a:latin typeface="맑은 고딕"/>
              </a:rPr>
              <a:t>🧠 Planner의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620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질문을 받아 query_type을 결정하는 라우터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908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DB_ONLY / RAG_ONLY / GENERAL 등 6가지 타입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2196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복합 질문(DB_THEN_RAG)을 steps 배열로 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2484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LLM → JSON 계획 → 검증까지만 담당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2772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DB 실행, RAG 검색, SQL 생성은 포함하지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3060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4000"/>
                </a:solidFill>
                <a:latin typeface="맑은 고딕"/>
              </a:rPr>
              <a:t>• planner_flow_runner.py가 E2E 흐름을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1188000"/>
            <a:ext cx="5580000" cy="234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05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126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FB5"/>
                </a:solidFill>
                <a:latin typeface="맑은 고딕"/>
              </a:rPr>
              <a:t>⚙️ Stream의 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999" y="1620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실제 SQL 생성 &amp; 응답 반환을 담당하는 실행 엔진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999" y="1908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3가지 mode: natural / prompt / rag_prompt_llm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999" y="2196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SQL Guard로 DML/DDL 차단 (안전 게이트)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999" y="2484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MSSQL 실행 포함 (선택적 --execute-sql)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999" y="2772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FastAPI 서버와 CLI 두 가지 진입점 모두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999" y="3060000"/>
            <a:ext cx="52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3060"/>
                </a:solidFill>
                <a:latin typeface="맑은 고딕"/>
              </a:rPr>
              <a:t>• config.yaml 한 곳에서 모든 동작 제어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" y="3636000"/>
            <a:ext cx="11833200" cy="126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37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B5"/>
                </a:solidFill>
                <a:latin typeface="맑은 고딕"/>
              </a:rPr>
              <a:t>🔍 RAG &amp; API SERVER의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399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RAG (rag_prompt_llm)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3996000"/>
            <a:ext cx="94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97A"/>
                </a:solidFill>
                <a:latin typeface="맑은 고딕"/>
              </a:rPr>
              <a:t>Root_Stream 내부 mode — Root_Ingest가 만든 ChromaDB를 읽어 동적 컨텍스트 제공. 최고 정확도의 SQL 생성 경로.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" y="4392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FB5"/>
                </a:solidFill>
                <a:latin typeface="맑은 고딕"/>
              </a:rPr>
              <a:t>API SERVER
(api_app + routes)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4392000"/>
            <a:ext cx="94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97A"/>
                </a:solidFill>
                <a:latin typeface="맑은 고딕"/>
              </a:rPr>
              <a:t>Root_Stream의 HTTP 인터페이스 — 동일한 StreamOrchestrator를 FastAPI로 감싼 것. CLI와 완전 동일한 로직을 HTTP로 노출.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999" y="5040000"/>
            <a:ext cx="3692400" cy="1368000"/>
          </a:xfrm>
          <a:prstGeom prst="roundRect">
            <a:avLst/>
          </a:prstGeom>
          <a:solidFill>
            <a:srgbClr val="FF8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999" y="5148000"/>
            <a:ext cx="351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1️⃣ Planner = 라우터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999" y="5472000"/>
            <a:ext cx="3512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질문 유형을 분류해 DB/RAG/LLM
어떤 경로를 쓸지 결정한다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0398" y="5040000"/>
            <a:ext cx="3692400" cy="1368000"/>
          </a:xfrm>
          <a:prstGeom prst="round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8398" y="5148000"/>
            <a:ext cx="351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2️⃣ Stream = 실행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398" y="5472000"/>
            <a:ext cx="3512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mode에 따라 SQL 생성/RAG/LLM을
실제로 실행하고 결과를 반환한다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8797" y="5040000"/>
            <a:ext cx="3692400" cy="1368000"/>
          </a:xfrm>
          <a:prstGeom prst="roundRect">
            <a:avLst/>
          </a:prstGeom>
          <a:solidFill>
            <a:srgbClr val="1B7F4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6797" y="5148000"/>
            <a:ext cx="351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3️⃣ RAG + ChromaDB = 정확도의 열쇠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6797" y="5472000"/>
            <a:ext cx="3512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Root_Ingest 품질이 Root_Stream 답변
품질을 직접 결정한다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2000"/>
            <a:ext cx="12193200" cy="540000"/>
          </a:xfrm>
          <a:prstGeom prst="rect">
            <a:avLst/>
          </a:prstGeom>
          <a:solidFill>
            <a:srgbClr val="005FB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999" y="6336000"/>
            <a:ext cx="116892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💡 핵심 메시지: Planner는 라우터, Stream은 실행 엔진, RAG는 정확도 향상 레이어, API Server는 HTTP 진입점이다.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